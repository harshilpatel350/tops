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000000"/>
                </a:solidFill>
                <a:latin typeface="Arial"/>
              </a:rPr>
              <a:t>Relative Accuracy — Image Classification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 Classification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E7C8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A87-416A-8DE1-6764D43D750F}"/>
              </c:ext>
            </c:extLst>
          </c:dPt>
          <c:dPt>
            <c:idx val="1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A87-416A-8DE1-6764D43D750F}"/>
              </c:ext>
            </c:extLst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A87-416A-8DE1-6764D43D750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CNN</c:v>
                </c:pt>
                <c:pt idx="1">
                  <c:v>RNN</c:v>
                </c:pt>
                <c:pt idx="2">
                  <c:v>Transformer (ViT)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</c:v>
                </c:pt>
                <c:pt idx="1">
                  <c:v>60</c:v>
                </c:pt>
                <c:pt idx="2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A87-416A-8DE1-6764D43D75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46E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7606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-731520"/>
            <a:ext cx="2560320" cy="2560320"/>
          </a:xfrm>
          <a:prstGeom prst="ellipse">
            <a:avLst/>
          </a:prstGeom>
          <a:solidFill>
            <a:srgbClr val="0E7C86">
              <a:alpha val="25000"/>
            </a:srgbClr>
          </a:solidFill>
          <a:ln w="12700">
            <a:solidFill>
              <a:srgbClr val="0E7C86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108960"/>
            <a:ext cx="3200400" cy="3200400"/>
          </a:xfrm>
          <a:prstGeom prst="ellipse">
            <a:avLst/>
          </a:prstGeom>
          <a:solidFill>
            <a:srgbClr val="00C2D1">
              <a:alpha val="15000"/>
            </a:srgbClr>
          </a:solidFill>
          <a:ln w="12700">
            <a:solidFill>
              <a:srgbClr val="00C2D1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188720"/>
            <a:ext cx="8046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vs RNN vs Transformers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2194560" cy="64008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51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7A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Architectures Comparison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7E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Author: Harshil Patel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526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7EC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02-05-2026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Deep Learning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869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Deep Learning?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of Machine Learning using multi-layered neural networks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hierarchical feature representations from raw data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state-of-the-art results in vision, language, speech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868680"/>
            <a:ext cx="40690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88696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Architecture Matters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37760" y="1325880"/>
            <a:ext cx="37490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data types demand different inductive biases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architecture → poor accuracy, slow training, high cost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fit = efficiency, scalability, competitive performance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" y="2880360"/>
            <a:ext cx="2743200" cy="16916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880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0040" y="33832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patterns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images &amp; video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46120" y="2880360"/>
            <a:ext cx="2743200" cy="16916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4" name="Text 12"/>
          <p:cNvSpPr/>
          <p:nvPr/>
        </p:nvSpPr>
        <p:spPr>
          <a:xfrm>
            <a:off x="3246120" y="2880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246120" y="33832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patterns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time-series &amp; text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2880360"/>
            <a:ext cx="2743200" cy="1691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880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72200" y="33832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attention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Networks (CNN)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55448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learnable filters (kernels) that slide over spatial data</a:t>
            </a:r>
            <a:endParaRPr lang="en-US" sz="13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local patterns first, then combines into global features</a:t>
            </a:r>
            <a:endParaRPr lang="en-US" sz="13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sharing dramatically reduces model size vs. fully-connected</a:t>
            </a:r>
            <a:endParaRPr lang="en-US" sz="13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Translation-invariant: detects a cat whether it's top-left or center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23560" y="777240"/>
            <a:ext cx="3200400" cy="3543300"/>
          </a:xfrm>
          <a:prstGeom prst="rect">
            <a:avLst/>
          </a:prstGeom>
          <a:solidFill>
            <a:srgbClr val="EAF6F8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60720" y="822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 Cases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0" y="126187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🖼️  Image Classification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760720" y="1755648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Object Detection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760720" y="2249424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🎞️  Video Analysis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760720" y="27432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 Medical Imaging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760720" y="3236976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Signal Processing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760720" y="3730752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Style Transfer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0" y="4498848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54456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AlexNet (2012) reduced ImageNet top-5 error to 15.3% — catalysing the deep learning era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Architecture Deep Dive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1005840" cy="13716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804672"/>
            <a:ext cx="1005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234440" y="1490472"/>
            <a:ext cx="73152" cy="0"/>
          </a:xfrm>
          <a:prstGeom prst="line">
            <a:avLst/>
          </a:prstGeom>
          <a:noFill/>
          <a:ln w="25400">
            <a:solidFill>
              <a:srgbClr val="0D1B4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07592" y="804672"/>
            <a:ext cx="1188720" cy="13716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07592" y="804672"/>
            <a:ext cx="1188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96312" y="1490472"/>
            <a:ext cx="73152" cy="0"/>
          </a:xfrm>
          <a:prstGeom prst="line">
            <a:avLst/>
          </a:prstGeom>
          <a:noFill/>
          <a:ln w="25400">
            <a:solidFill>
              <a:srgbClr val="0D1B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69464" y="804672"/>
            <a:ext cx="1188720" cy="13716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69464" y="804672"/>
            <a:ext cx="1188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58184" y="1490472"/>
            <a:ext cx="73152" cy="0"/>
          </a:xfrm>
          <a:prstGeom prst="line">
            <a:avLst/>
          </a:prstGeom>
          <a:noFill/>
          <a:ln w="25400">
            <a:solidFill>
              <a:srgbClr val="0D1B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31336" y="804672"/>
            <a:ext cx="1188720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831336" y="804672"/>
            <a:ext cx="1188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0056" y="1490472"/>
            <a:ext cx="73152" cy="0"/>
          </a:xfrm>
          <a:prstGeom prst="line">
            <a:avLst/>
          </a:prstGeom>
          <a:noFill/>
          <a:ln w="25400">
            <a:solidFill>
              <a:srgbClr val="0D1B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93208" y="804672"/>
            <a:ext cx="100584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93208" y="804672"/>
            <a:ext cx="1005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99048" y="1490472"/>
            <a:ext cx="73152" cy="0"/>
          </a:xfrm>
          <a:prstGeom prst="line">
            <a:avLst/>
          </a:prstGeom>
          <a:noFill/>
          <a:ln w="25400">
            <a:solidFill>
              <a:srgbClr val="0D1B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804672"/>
            <a:ext cx="1005840" cy="137160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72200" y="804672"/>
            <a:ext cx="1005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178040" y="1490472"/>
            <a:ext cx="73152" cy="0"/>
          </a:xfrm>
          <a:prstGeom prst="line">
            <a:avLst/>
          </a:prstGeom>
          <a:noFill/>
          <a:ln w="25400">
            <a:solidFill>
              <a:srgbClr val="0D1B4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51192" y="804672"/>
            <a:ext cx="100584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51192" y="804672"/>
            <a:ext cx="1005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2468880"/>
            <a:ext cx="27889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29768" y="250545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 Layer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9768" y="2907792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(filter) slides across input with a stride, computing dot products. Extracts local features: edges, textures, shapes.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64408" y="2468880"/>
            <a:ext cx="27889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374136" y="250545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Pooling Layer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74136" y="2907792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Max/Average pooling reduces spatial dimensions. Provides translation invariance and reduces computational cost.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08776" y="2468880"/>
            <a:ext cx="27889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318504" y="250545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Connected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318504" y="2907792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Flattened feature maps feed into dense layers. Combines learned features for final classification or regression.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– Advantages &amp; Limitations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069080" cy="3977640"/>
          </a:xfrm>
          <a:prstGeom prst="rect">
            <a:avLst/>
          </a:prstGeom>
          <a:solidFill>
            <a:srgbClr val="E8FEF0"/>
          </a:solidFill>
          <a:ln w="25400">
            <a:solidFill>
              <a:srgbClr val="34D3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5953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5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Advantages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5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spatial feature extraction — no hand-engineering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5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sharing drastically reduces model parameters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5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parallelizable on modern GPUs/TPUs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5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track record: VGG, ResNet, EfficientNet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5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even with moderate dataset sizes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055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to local transformations (rotation, scaling)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54880" y="804672"/>
            <a:ext cx="4069080" cy="3977640"/>
          </a:xfrm>
          <a:prstGeom prst="rect">
            <a:avLst/>
          </a:prstGeom>
          <a:solidFill>
            <a:srgbClr val="FEF2F2"/>
          </a:solidFill>
          <a:ln w="2540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859536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92040" y="1325880"/>
            <a:ext cx="3749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Struggles with sequential / temporal data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receptive field limits global context understanding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large datasets for best performance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CNNs lack positional reasoning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natively suited for variable-length inputs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Transformers (ViT) outperform on very large data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Recurrent Neural Networks (RNN)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234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Data &amp; Memory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164592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ordered sequences: text, audio, time-series</a:t>
            </a:r>
            <a:endParaRPr lang="en-US" sz="13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 hₜ carries information from previous time steps</a:t>
            </a:r>
            <a:endParaRPr lang="en-US" sz="13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weight matrix W is applied at every time step (recurrence)</a:t>
            </a:r>
            <a:endParaRPr lang="en-US" sz="13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theoretically model dependencies of arbitrary length</a:t>
            </a:r>
            <a:endParaRPr lang="en-US" sz="13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tokens one-at-a-time, making inference sequential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577840" y="777240"/>
            <a:ext cx="3246120" cy="3543300"/>
          </a:xfrm>
          <a:prstGeom prst="rect">
            <a:avLst/>
          </a:prstGeom>
          <a:solidFill>
            <a:srgbClr val="F3E8FF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15000" y="8229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Memory Works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298448"/>
            <a:ext cx="2331720" cy="475488"/>
          </a:xfrm>
          <a:prstGeom prst="roundRect">
            <a:avLst>
              <a:gd name="adj" fmla="val 1153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1298448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xₜ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200900" y="1773936"/>
            <a:ext cx="0" cy="237744"/>
          </a:xfrm>
          <a:prstGeom prst="line">
            <a:avLst/>
          </a:prstGeom>
          <a:noFill/>
          <a:ln w="25400">
            <a:solidFill>
              <a:srgbClr val="0D1B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2011680"/>
            <a:ext cx="2331720" cy="475488"/>
          </a:xfrm>
          <a:prstGeom prst="roundRect">
            <a:avLst>
              <a:gd name="adj" fmla="val 1153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01168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hₜ₋₁ + xₜ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200900" y="2487168"/>
            <a:ext cx="0" cy="237744"/>
          </a:xfrm>
          <a:prstGeom prst="line">
            <a:avLst/>
          </a:prstGeom>
          <a:noFill/>
          <a:ln w="25400">
            <a:solidFill>
              <a:srgbClr val="0D1B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2724912"/>
            <a:ext cx="2331720" cy="475488"/>
          </a:xfrm>
          <a:prstGeom prst="roundRect">
            <a:avLst>
              <a:gd name="adj" fmla="val 1153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724912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hₜ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00900" y="3200400"/>
            <a:ext cx="0" cy="237744"/>
          </a:xfrm>
          <a:prstGeom prst="line">
            <a:avLst/>
          </a:prstGeom>
          <a:noFill/>
          <a:ln w="25400">
            <a:solidFill>
              <a:srgbClr val="0D1B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0" y="3438144"/>
            <a:ext cx="2331720" cy="475488"/>
          </a:xfrm>
          <a:prstGeom prst="roundRect">
            <a:avLst>
              <a:gd name="adj" fmla="val 1153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3438144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yₜ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0" y="4498848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54456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equation: hₜ = tanh(Wₕₕ · hₜ₋₁ + Wₓₕ · xₜ + b)   —   the same weights W are shared across all time steps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Architecture – Unrolled 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56616" y="1362456"/>
            <a:ext cx="123444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88720"/>
            <a:ext cx="1234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37260" y="2377440"/>
            <a:ext cx="0" cy="45720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8346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37260" y="996696"/>
            <a:ext cx="0" cy="36576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722376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88769" y="1889994"/>
            <a:ext cx="3657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2361" y="171625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54529" y="1362456"/>
            <a:ext cx="123444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920240" y="1188720"/>
            <a:ext cx="1234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t=2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537460" y="2377440"/>
            <a:ext cx="0" cy="45720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40280" y="28346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537460" y="996696"/>
            <a:ext cx="0" cy="36576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35005" y="720969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182112" y="1889291"/>
            <a:ext cx="3657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23258" y="16916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29938" y="1362456"/>
            <a:ext cx="123444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20440" y="1188720"/>
            <a:ext cx="1234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t=3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37660" y="2377440"/>
            <a:ext cx="0" cy="45720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0" y="28346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32385" y="1000213"/>
            <a:ext cx="0" cy="36576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0" y="728707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1868893"/>
            <a:ext cx="3657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2031" y="171625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95849" y="1365973"/>
            <a:ext cx="123444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120640" y="1188720"/>
            <a:ext cx="1234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t=4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729068" y="2377440"/>
            <a:ext cx="0" cy="457200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40680" y="2834640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725378" y="1000213"/>
            <a:ext cx="0" cy="36576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0680" y="728707"/>
            <a:ext cx="594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29400" y="1444752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···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320040" y="3337560"/>
            <a:ext cx="201168" cy="20116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6928" y="3291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xₜ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2514600" y="3337560"/>
            <a:ext cx="201168" cy="2011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61488" y="3291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yₜ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709160" y="3337560"/>
            <a:ext cx="201168" cy="2011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56048" y="3291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state hₜ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903720" y="3337560"/>
            <a:ext cx="201168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50608" y="329184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cell (shared weights)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20040" y="3730752"/>
            <a:ext cx="8503920" cy="1143000"/>
          </a:xfrm>
          <a:prstGeom prst="rect">
            <a:avLst/>
          </a:prstGeom>
          <a:solidFill>
            <a:srgbClr val="EAF6F8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57200" y="37673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Variants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57200" y="406908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RNN — processes sequence in both forward and backward directions</a:t>
            </a:r>
            <a:endParaRPr lang="en-US" sz="12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RNN — multiple stacked recurrent layers for richer representations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Challenges with Vanilla RNNs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4069080" cy="3977640"/>
          </a:xfrm>
          <a:prstGeom prst="rect">
            <a:avLst/>
          </a:prstGeom>
          <a:solidFill>
            <a:srgbClr val="FEF9EC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68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Vanishing Gradient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335024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Gradients are multiplied by W at each BPTT step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long sequences, gradient → 0 exponentially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time steps receive near-zero updates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effectively 'forgets' distant context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Occurs because tanh/sigmoid derivatives &lt; 1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∂L/∂h₁ = ∂L/∂hₜ · Wᵗ⁻¹   →   0 as t grows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822960"/>
            <a:ext cx="4069080" cy="3977640"/>
          </a:xfrm>
          <a:prstGeom prst="rect">
            <a:avLst/>
          </a:prstGeom>
          <a:solidFill>
            <a:srgbClr val="FFF1F2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92040" y="8686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Long-Term Dependency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892040" y="1335024"/>
            <a:ext cx="3749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cat that ate the fish was happy." — requires remembering 'cat'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RNN loses context after ~10-20 tokens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explosion is the opposite issue (gradient clipping helps)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 Through Time (BPTT) is computationally costly</a:t>
            </a:r>
            <a:endParaRPr lang="en-US" sz="125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hidden state is a bottleneck for sequence-to-sequence tasks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892040" y="4114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→ LSTM &amp; GRU architectures (next slide)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&amp; GRU — Solving Vanishing Gradients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40690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4124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— Long Short-Term Memory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57200" y="1316736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by Hochreiter &amp; Schmidhuber (1997)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separate state vectors: hₜ (hidden) and Cₜ (cell)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gate: decides what info to discard from cell state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gate: controls what new info enters cell state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gate: decides what to pass as next hidden state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 state highway allows gradients to flow unimpeded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794760"/>
            <a:ext cx="3749040" cy="777240"/>
          </a:xfrm>
          <a:prstGeom prst="rect">
            <a:avLst/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822192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Gates: fₜ = σ(Wf · [hₜ₋₁, xₜ] + bf)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Cₜ = fₜ ⊙ Cₜ₋₁ + iₜ ⊙ C̃ₜ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04672"/>
            <a:ext cx="406908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84124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— Gated Recurrent Unit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892040" y="1316736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by Cho et al. (2014), simpler than LSTM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two gates: reset gate and update gate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separate cell state — merged into hidden state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gate: controls how much past to ignore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gate: balances old vs. new information</a:t>
            </a:r>
            <a:endParaRPr lang="en-US" sz="12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parameters → faster training, comparable accuracy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92040" y="3794760"/>
            <a:ext cx="3749040" cy="777240"/>
          </a:xfrm>
          <a:prstGeom prst="rect">
            <a:avLst/>
          </a:prstGeom>
          <a:solidFill>
            <a:srgbClr val="CCFBF1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3822192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Gates: zₜ = σ(Wz · [hₜ₋₁, xₜ])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hₜ = (1 − zₜ) ⊙ hₜ₋₁ + zₜ ⊙ h̃ₜ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— 'Attention Is All You Need'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1280160" cy="292608"/>
          </a:xfrm>
          <a:prstGeom prst="roundRect">
            <a:avLst>
              <a:gd name="adj" fmla="val 1875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77724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20040" y="11887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paradigm shift (Vaswani et al., 2017)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572768"/>
            <a:ext cx="53949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recurrence with Self-Attention — every token attends to all others simultaneously</a:t>
            </a:r>
            <a:endParaRPr lang="en-US" sz="13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processing: processes entire sequence at once → far faster training than RNNs</a:t>
            </a:r>
            <a:endParaRPr lang="en-US" sz="13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 injects order information without recurrence</a:t>
            </a:r>
            <a:endParaRPr lang="en-US" sz="13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effectively with data and parameters (GPT-4: ~1.8T params)</a:t>
            </a:r>
            <a:endParaRPr lang="en-US" sz="13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BERT, GPT, T5, LLaMA, Gemini, and virtually all modern LLMs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23560" y="777240"/>
            <a:ext cx="3200400" cy="3543300"/>
          </a:xfrm>
          <a:prstGeom prst="rect">
            <a:avLst/>
          </a:prstGeom>
          <a:solidFill>
            <a:srgbClr val="FFF7ED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60720" y="8229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Self-Attention Concept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760720" y="129844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1298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13258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Query: what am I looking for?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760720" y="2066544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206654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209397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what do I contain?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760720" y="2834640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0" y="2834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17920" y="286207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Value: what do I pass forward?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760720" y="3602736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0" y="3602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363016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softmax(QKᵀ / √dₖ) · V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0" y="4498848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54456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quick brown fox" — Transformer attends to ALL words at once; RNN must wait until it reaches 'fox'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 — Encoder–Decoder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3931920" cy="3977640"/>
          </a:xfrm>
          <a:prstGeom prst="rect">
            <a:avLst/>
          </a:prstGeom>
          <a:solidFill>
            <a:srgbClr val="FFF7ED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41248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Encoder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611880" cy="475488"/>
          </a:xfrm>
          <a:prstGeom prst="rect">
            <a:avLst/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Embeddings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1929384"/>
            <a:ext cx="3611880" cy="475488"/>
          </a:xfrm>
          <a:prstGeom prst="rect">
            <a:avLst/>
          </a:prstGeom>
          <a:solidFill>
            <a:srgbClr val="FDBA74"/>
          </a:solidFill>
          <a:ln w="12700">
            <a:solidFill>
              <a:srgbClr val="FDBA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9384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532888"/>
            <a:ext cx="3611880" cy="47548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32888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Self-Attention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136392"/>
            <a:ext cx="3611880" cy="4754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136392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&amp; Norm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739896"/>
            <a:ext cx="3611880" cy="47548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39896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Feed-Forward Network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892040" y="804672"/>
            <a:ext cx="3931920" cy="3977640"/>
          </a:xfrm>
          <a:prstGeom prst="rect">
            <a:avLst/>
          </a:prstGeom>
          <a:solidFill>
            <a:srgbClr val="EEF2FF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841248"/>
            <a:ext cx="3611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Decoder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0" y="1325880"/>
            <a:ext cx="3611880" cy="475488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325880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Embeddings (shifted)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0" y="1929384"/>
            <a:ext cx="3611880" cy="475488"/>
          </a:xfrm>
          <a:prstGeom prst="rect">
            <a:avLst/>
          </a:prstGeom>
          <a:solidFill>
            <a:srgbClr val="A5B4FC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929384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Positional Encoding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0" y="2532888"/>
            <a:ext cx="3611880" cy="47548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532888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Masked Self-Attention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029200" y="3136392"/>
            <a:ext cx="3611880" cy="47548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0" y="3136392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Cross-Attention (Enc→Dec)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029200" y="3739896"/>
            <a:ext cx="3611880" cy="47548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739896"/>
            <a:ext cx="3611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 → Softmax → Output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251960" y="2852928"/>
            <a:ext cx="640080" cy="0"/>
          </a:xfrm>
          <a:prstGeom prst="line">
            <a:avLst/>
          </a:prstGeom>
          <a:noFill/>
          <a:ln w="254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60520" y="263347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K, V →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vs RNN vs Transformer — Comparison Matrix</a:t>
            </a:r>
            <a:endParaRPr lang="en-US" sz="2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804672"/>
          <a:ext cx="8138160" cy="420624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CNN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RNN / LSTM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Transformer</a:t>
                      </a:r>
                      <a:endParaRPr lang="en-US" sz="12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Data Type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Images, Video, Signals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Sequential / Time-series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Any (text, image, code)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Memory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None (stateless)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Hidden state (short-range)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Full context via attention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Parallelism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High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Low (sequential steps)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Very high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Long-Range Deps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Limited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Poor (vanilla), OK (LSTM)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Excellent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Training Speed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Fast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Slow for long seqs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Fast (parallel)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Complexity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Moderate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Moderate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High (O(n²) attention)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Best Use Case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Computer Vision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NLP, Speech, Time-series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LLMs, Multimodal AI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Key Models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ResNet, EfficientNet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LSTM, GRU, Seq2Seq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BERT, GPT, T5, LLaMA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2788920" cy="4572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80467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Applications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298448"/>
            <a:ext cx="2788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1389888"/>
            <a:ext cx="201168" cy="20116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 / Image Classification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9768" y="1865376"/>
            <a:ext cx="201168" cy="20116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470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— Real-time Object Detection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29768" y="2340864"/>
            <a:ext cx="201168" cy="20116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225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(FaceNet)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9768" y="2816352"/>
            <a:ext cx="201168" cy="20116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7980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Imaging &amp; Radiology AI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9768" y="3291840"/>
            <a:ext cx="201168" cy="20116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2735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Vehicle Perception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9768" y="3767328"/>
            <a:ext cx="201168" cy="20116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749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 Analysis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29768" y="4242816"/>
            <a:ext cx="201168" cy="201168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2245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Detection in Manufacturing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64408" y="804672"/>
            <a:ext cx="278892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80467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Applications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64408" y="1298448"/>
            <a:ext cx="2788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374136" y="1389888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0168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Translation (Seq2Seq)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374136" y="186537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0168" y="18470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 &amp; Synthesis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374136" y="2340864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0168" y="23225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 of Text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374136" y="2816352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0168" y="27980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Price &amp; Financial Forecasting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374136" y="3291840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0168" y="32735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 &amp; Melody Generation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3374136" y="3767328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30168" y="3749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Captioning (CNN + RNN)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374136" y="4242816"/>
            <a:ext cx="201168" cy="2011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30168" y="42245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in IoT Streams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08776" y="804672"/>
            <a:ext cx="278892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08776" y="804672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Applications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208776" y="1298448"/>
            <a:ext cx="27889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18504" y="138988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74536" y="1371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/ LLaMA — Large Language Models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6318504" y="186537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74536" y="18470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— Document Understanding &amp; NER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6318504" y="234086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74536" y="23225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DALL-E 3 / Stable Diffusion (image gen)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318504" y="281635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74536" y="279806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AlphaFold 2 — Protein Structure Prediction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318504" y="329184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74536" y="327355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/ GitHub Copilot — Code Generation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6318504" y="376732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74536" y="3749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— Multilingual Speech-to-Text</a:t>
            </a:r>
            <a:endParaRPr lang="en-US" sz="1150" dirty="0"/>
          </a:p>
        </p:txBody>
      </p:sp>
      <p:sp>
        <p:nvSpPr>
          <p:cNvPr id="53" name="Shape 51"/>
          <p:cNvSpPr/>
          <p:nvPr/>
        </p:nvSpPr>
        <p:spPr>
          <a:xfrm>
            <a:off x="6318504" y="424281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74536" y="42245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PaLM, Gemini — Multimodal Reasoning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 Insights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804672"/>
          <a:ext cx="53035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06440" y="804672"/>
            <a:ext cx="3017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84124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Transformers Scale Best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0" y="120700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improves log-linearly with data and parameters. Emergent capabilities appear at scale.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806440" y="2130552"/>
            <a:ext cx="3017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943600" y="21671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CNNs Win on Edge Devices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253288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MobileNet, EfficientNet-Lite run real-time on phones. Transformers are too heavy for most embedded hardware.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806440" y="3456432"/>
            <a:ext cx="3017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0" y="34930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RNNs Still Competitive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943600" y="3858768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LSTM/GRU match Transformers on small datasets with limited compute. Mamba SSM is closing the gap.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0040" y="4709160"/>
            <a:ext cx="8503920" cy="365760"/>
          </a:xfrm>
          <a:prstGeom prst="rect">
            <a:avLst/>
          </a:prstGeom>
          <a:solidFill>
            <a:srgbClr val="EAF6F8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65760" y="45948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Accuracy figures are domain-specific. Always benchmark on your own dataset — no architecture universally dominates.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 Architecture?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96112"/>
            <a:ext cx="109728" cy="11887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1208" y="96926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image or video data?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21208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Start with CNN (ResNet50, EfficientNet)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896112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896112"/>
            <a:ext cx="109728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96926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sequential data, limited compute?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956048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GRU / LSTM (faster, fewer params)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267712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267712"/>
            <a:ext cx="109728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234086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text, code, or multi-modal input?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21208" y="2834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Transformer (BERT, GPT, T5)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267712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267712"/>
            <a:ext cx="109728" cy="1188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234086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 or mobile deployment?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56048" y="2834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MobileNet CNN / DistilBERT Transformer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" y="3639312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639312"/>
            <a:ext cx="109728" cy="118872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371246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Hybrid: video + audio + text?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21208" y="4206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Multimodal Transformer (e.g., LLaVA, Flamingo)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639312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639312"/>
            <a:ext cx="109728" cy="11887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371246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data regime (&lt;5K samples)?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56048" y="4206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Pretrained CNN or Transformer (fine-tune)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75488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Hybrid architectures dominate 2024–25: ConvNeXt, Mamba, and Perceiver IO blur the boundaries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Deep Learning Architectures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41248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41248"/>
            <a:ext cx="2788920" cy="38404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41248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Space Models (SSMs)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29768" y="1280160"/>
            <a:ext cx="25786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Mamba, RWKV — linear-time sequence modelling that rivals Transformers, without O(n²) attention cost.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4408" y="841248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64408" y="841248"/>
            <a:ext cx="2788920" cy="384048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64408" y="841248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CNN + Transformer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374136" y="1280160"/>
            <a:ext cx="25786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ConvNeXt V2, ViT + convolutions: local inductive bias from CNNs + global context from attention.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08776" y="841248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08776" y="841248"/>
            <a:ext cx="2788920" cy="3840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08776" y="841248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Mixture of Experts (MoE)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318504" y="1280160"/>
            <a:ext cx="25786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GPT-4, Mixtral: sparse gating activates specialist sub-networks, enabling trillion-parameter scaling.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807208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807208"/>
            <a:ext cx="2788920" cy="384048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807208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Foundation Models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29768" y="3246120"/>
            <a:ext cx="25786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GPT-4o, Gemini 1.5: one model handles text, images, audio, video — removing modality silos.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64408" y="2807208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64408" y="2807208"/>
            <a:ext cx="278892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64408" y="2807208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Transformers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74136" y="3246120"/>
            <a:ext cx="25786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FlashAttention, sparse attention, quantisation (INT4): closing the hardware gap for edge deployment.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08776" y="2807208"/>
            <a:ext cx="2788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B2DFDB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08776" y="2807208"/>
            <a:ext cx="2788920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08776" y="2807208"/>
            <a:ext cx="2788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Neuromorphic &amp; Physical AI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318504" y="3246120"/>
            <a:ext cx="2578608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Loihi, quantum annealing, spiking networks: next-gen hardware will reshape architecture choices.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0E7C86">
              <a:alpha val="18000"/>
            </a:srgbClr>
          </a:solidFill>
          <a:ln w="12700">
            <a:solidFill>
              <a:srgbClr val="0E7C86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0C2D1">
              <a:alpha val="15000"/>
            </a:srgbClr>
          </a:solidFill>
          <a:ln w="12700">
            <a:solidFill>
              <a:srgbClr val="00C2D1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645920" cy="64008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88720"/>
            <a:ext cx="822960" cy="6858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8872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123444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spatial data — images, video, signals. Efficient, proven, edge-deployable.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822960" cy="685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5740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08760" y="210312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sequences — but LSTM/GRU needed to overcome vanishing gradients.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82296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92608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Trans-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08760" y="297180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in NLP &amp; multimodal AI. Scales superbly, but compute-intensive.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822960" cy="685800"/>
          </a:xfrm>
          <a:prstGeom prst="rect">
            <a:avLst/>
          </a:prstGeom>
          <a:solidFill>
            <a:srgbClr val="00C2D1"/>
          </a:solidFill>
          <a:ln w="12700">
            <a:solidFill>
              <a:srgbClr val="00C2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794760"/>
            <a:ext cx="822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08760" y="3840480"/>
            <a:ext cx="6949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architectures and SSMs are redefining boundaries. No single model rules all.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66344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architecture is the one that fits your data, task, and constraints.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B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8696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LeCun, Y. et al. (1989). Backpropagation applied to handwritten zip code recognition. Neural Computation.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28930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Hochreiter, S. &amp; Schmidhuber, J. (1997). Long Short-Term Memory. Neural Computation, 9(8), 1735–1780.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Cho, K. et al. (2014). Learning Phrase Representations using RNN Encoder–Decoder. EMNLP.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57200" y="2093976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Vaswani, A. et al. (2017). Attention Is All You Need. NeurIPS.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49631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He, K. et al. (2016). Deep Residual Learning for Image Recognition. CVPR.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289864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Devlin, J. et al. (2018). BERT: Pre-training of Deep Bidirectional Transformers. NAACL.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300984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Dosovitskiy, A. et al. (2020). An Image is Worth 16×16 Words: Transformers for Image Recognition. ICLR.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70332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 Gu, A. &amp; Dao, T. (2023). Mamba: Linear-Time Sequence Modelling with Selective State Spaces. arXiv.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4105656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 OpenAI (2023). GPT-4 Technical Report. arXiv:2303.08774.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4507992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Goodfellow, I., Bengio, Y., Courville, A. (2016). Deep Learning. MIT Press.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1987</Words>
  <Application>Microsoft Office PowerPoint</Application>
  <PresentationFormat>On-screen Show (16:9)</PresentationFormat>
  <Paragraphs>318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 vs RNN vs Transformers</dc:title>
  <dc:subject>PptxGenJS Presentation</dc:subject>
  <dc:creator>Deep Learning Architectures</dc:creator>
  <cp:lastModifiedBy>Harshil Patel</cp:lastModifiedBy>
  <cp:revision>11</cp:revision>
  <dcterms:created xsi:type="dcterms:W3CDTF">2026-05-02T03:43:30Z</dcterms:created>
  <dcterms:modified xsi:type="dcterms:W3CDTF">2026-05-02T04:19:20Z</dcterms:modified>
</cp:coreProperties>
</file>